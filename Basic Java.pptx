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F777D-AA10-4302-9FEE-E5B4EBC6727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F16EEC0E-FDB9-40EC-BCC0-E8F9B382FF90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26654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F777D-AA10-4302-9FEE-E5B4EBC6727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EEC0E-FDB9-40EC-BCC0-E8F9B382FF90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03249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F777D-AA10-4302-9FEE-E5B4EBC6727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EEC0E-FDB9-40EC-BCC0-E8F9B382FF90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21651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F777D-AA10-4302-9FEE-E5B4EBC6727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EEC0E-FDB9-40EC-BCC0-E8F9B382FF90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30895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F777D-AA10-4302-9FEE-E5B4EBC6727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EEC0E-FDB9-40EC-BCC0-E8F9B382FF90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8883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F777D-AA10-4302-9FEE-E5B4EBC6727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EEC0E-FDB9-40EC-BCC0-E8F9B382FF90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905956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F777D-AA10-4302-9FEE-E5B4EBC6727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EEC0E-FDB9-40EC-BCC0-E8F9B382F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615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F777D-AA10-4302-9FEE-E5B4EBC6727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EEC0E-FDB9-40EC-BCC0-E8F9B382FF90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15412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8FAF777D-AA10-4302-9FEE-E5B4EBC6727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EEC0E-FDB9-40EC-BCC0-E8F9B382FF90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0407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F777D-AA10-4302-9FEE-E5B4EBC6727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EEC0E-FDB9-40EC-BCC0-E8F9B382FF90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60281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F777D-AA10-4302-9FEE-E5B4EBC6727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EEC0E-FDB9-40EC-BCC0-E8F9B382FF90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1934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AF777D-AA10-4302-9FEE-E5B4EBC6727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F16EEC0E-FDB9-40EC-BCC0-E8F9B382FF90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85744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BEF39-18B4-70F4-D414-27C7D6193BF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Basic Java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93E072-21E8-2DF7-4DCF-A8CB278EB82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With command line</a:t>
            </a:r>
          </a:p>
        </p:txBody>
      </p:sp>
    </p:spTree>
    <p:extLst>
      <p:ext uri="{BB962C8B-B14F-4D97-AF65-F5344CB8AC3E}">
        <p14:creationId xmlns:p14="http://schemas.microsoft.com/office/powerpoint/2010/main" val="28283882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13619-7B9D-B172-20FA-6D100B8B3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Biên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dịch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khởi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chạy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ADF075-5344-9609-B854-83BC4CC92C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134056"/>
          </a:xfrm>
        </p:spPr>
        <p:txBody>
          <a:bodyPr>
            <a:normAutofit lnSpcReduction="10000"/>
          </a:bodyPr>
          <a:lstStyle/>
          <a:p>
            <a:r>
              <a:rPr lang="vi-VN" sz="2200" i="1" dirty="0">
                <a:solidFill>
                  <a:schemeClr val="accent5"/>
                </a:solidFill>
              </a:rPr>
              <a:t>javac</a:t>
            </a:r>
            <a:r>
              <a:rPr lang="vi-VN" sz="2200" dirty="0"/>
              <a:t>: Trình biên dịch Java, chuyển mã nguồn </a:t>
            </a:r>
            <a:r>
              <a:rPr lang="en-US" sz="2200" dirty="0"/>
              <a:t>*</a:t>
            </a:r>
            <a:r>
              <a:rPr lang="vi-VN" sz="2200" dirty="0"/>
              <a:t>.java thành </a:t>
            </a:r>
            <a:r>
              <a:rPr lang="vi-VN" sz="2200" dirty="0">
                <a:solidFill>
                  <a:schemeClr val="accent1"/>
                </a:solidFill>
              </a:rPr>
              <a:t>bytecode</a:t>
            </a:r>
            <a:r>
              <a:rPr lang="vi-VN" sz="2200" dirty="0"/>
              <a:t> (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dạng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ngôn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ngữ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chung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vi-VN" sz="2200" dirty="0"/>
              <a:t>chạy đa nền tảng).</a:t>
            </a:r>
            <a:endParaRPr lang="en-US" sz="2200" dirty="0"/>
          </a:p>
          <a:p>
            <a:r>
              <a:rPr lang="vi-VN" sz="2200" i="1" dirty="0">
                <a:solidFill>
                  <a:schemeClr val="accent5"/>
                </a:solidFill>
              </a:rPr>
              <a:t>java</a:t>
            </a:r>
            <a:r>
              <a:rPr lang="vi-VN" sz="2200" dirty="0"/>
              <a:t>: Trình chạy Java, thực thi </a:t>
            </a:r>
            <a:r>
              <a:rPr lang="vi-VN" sz="2200" dirty="0">
                <a:solidFill>
                  <a:schemeClr val="accent1"/>
                </a:solidFill>
              </a:rPr>
              <a:t>bytecode</a:t>
            </a:r>
            <a:r>
              <a:rPr lang="vi-VN" sz="2200" dirty="0"/>
              <a:t> trên Java Virtual Machine (JVM).</a:t>
            </a:r>
            <a:endParaRPr lang="en-US" sz="2200" dirty="0"/>
          </a:p>
          <a:p>
            <a:r>
              <a:rPr lang="vi-VN" sz="2200" i="1" dirty="0">
                <a:solidFill>
                  <a:schemeClr val="accent5"/>
                </a:solidFill>
              </a:rPr>
              <a:t>classpath</a:t>
            </a:r>
            <a:r>
              <a:rPr lang="vi-VN" sz="2200" dirty="0"/>
              <a:t>: Đường dẫn đến </a:t>
            </a:r>
            <a:r>
              <a:rPr lang="vi-VN" sz="2200" dirty="0">
                <a:solidFill>
                  <a:schemeClr val="accent1"/>
                </a:solidFill>
              </a:rPr>
              <a:t>bytecode</a:t>
            </a:r>
            <a:r>
              <a:rPr lang="vi-VN" sz="2200" dirty="0"/>
              <a:t> và các thư viện cần thiết để chạy chương trình.</a:t>
            </a:r>
            <a:endParaRPr lang="en-US" sz="2200" dirty="0"/>
          </a:p>
          <a:p>
            <a:pPr marL="0" indent="0">
              <a:buNone/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# compile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ra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thư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mục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</a:t>
            </a:r>
            <a:b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900" dirty="0" err="1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javac</a:t>
            </a:r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 -d </a:t>
            </a:r>
            <a:r>
              <a:rPr lang="en-US" sz="1900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</a:t>
            </a:r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 (Get-</a:t>
            </a:r>
            <a:r>
              <a:rPr lang="en-US" sz="1900" dirty="0" err="1">
                <a:latin typeface="Arial" panose="020B0604020202020204" pitchFamily="34" charset="0"/>
                <a:cs typeface="Arial" panose="020B0604020202020204" pitchFamily="34" charset="0"/>
              </a:rPr>
              <a:t>ChildItem</a:t>
            </a:r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 -Recurse -Filter *.java).</a:t>
            </a:r>
            <a:r>
              <a:rPr lang="en-US" sz="1900" dirty="0" err="1">
                <a:latin typeface="Arial" panose="020B0604020202020204" pitchFamily="34" charset="0"/>
                <a:cs typeface="Arial" panose="020B0604020202020204" pitchFamily="34" charset="0"/>
              </a:rPr>
              <a:t>FullName</a:t>
            </a:r>
            <a:b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#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khởi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chạy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class Main,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chỉ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định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classpath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n-US" sz="1800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để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JVM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biết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nơi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cần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load bytecode</a:t>
            </a:r>
            <a:b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900" dirty="0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java</a:t>
            </a:r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 -cp </a:t>
            </a:r>
            <a:r>
              <a:rPr lang="en-US" sz="1900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</a:t>
            </a:r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900" dirty="0" err="1">
                <a:latin typeface="Arial" panose="020B0604020202020204" pitchFamily="34" charset="0"/>
                <a:cs typeface="Arial" panose="020B0604020202020204" pitchFamily="34" charset="0"/>
              </a:rPr>
              <a:t>com.example.Main</a:t>
            </a:r>
            <a:endParaRPr lang="en-US" sz="19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vi-V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6524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B64EAD-3400-AC74-C0E7-E6F8A3456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B31968-B3A7-8C70-F44F-9BC7DAE32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…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Cùng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với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thư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viện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ngoài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584C22-B3BE-A267-5E3C-9B0B3EC029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134056"/>
          </a:xfrm>
        </p:spPr>
        <p:txBody>
          <a:bodyPr>
            <a:normAutofit/>
          </a:bodyPr>
          <a:lstStyle/>
          <a:p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Thư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viện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ngoài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: Các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gói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jar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chứa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bytecode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đã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được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biên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dịch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lvl="1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Cung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cấp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Utility, API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để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developer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sử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dụng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trực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tiếp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không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cần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tự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viết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lại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lvl="1"/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Ví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dụ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2000" dirty="0" err="1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StringUtils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của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common-lang3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cung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cấp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method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để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kiểm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tra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thao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tác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với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String (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isEmpty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, join,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removeAll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, …).</a:t>
            </a:r>
          </a:p>
          <a:p>
            <a:pPr lvl="1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Thường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được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chia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sẻ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công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khai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trên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internet (Maven,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Github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, …).</a:t>
            </a:r>
          </a:p>
          <a:p>
            <a:pPr marL="0" indent="0">
              <a:buNone/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#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phải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chỉ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định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classpath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thư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mục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file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thư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viện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jar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đang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nằm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ở ổ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đĩa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D)</a:t>
            </a:r>
            <a:b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900" i="1" dirty="0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java</a:t>
            </a:r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 -cp "</a:t>
            </a:r>
            <a:r>
              <a:rPr lang="en-US" sz="1900" dirty="0" err="1">
                <a:latin typeface="Arial" panose="020B0604020202020204" pitchFamily="34" charset="0"/>
                <a:cs typeface="Arial" panose="020B0604020202020204" pitchFamily="34" charset="0"/>
              </a:rPr>
              <a:t>out;D</a:t>
            </a:r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:\repository\org\</a:t>
            </a:r>
            <a:r>
              <a:rPr lang="en-US" sz="1900" dirty="0" err="1">
                <a:latin typeface="Arial" panose="020B0604020202020204" pitchFamily="34" charset="0"/>
                <a:cs typeface="Arial" panose="020B0604020202020204" pitchFamily="34" charset="0"/>
              </a:rPr>
              <a:t>apache</a:t>
            </a:r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\commons\commons-lang3\3.18.0\commons-lang3-3.18.0.jar" </a:t>
            </a:r>
            <a:r>
              <a:rPr lang="en-US" sz="1900" dirty="0" err="1">
                <a:latin typeface="Arial" panose="020B0604020202020204" pitchFamily="34" charset="0"/>
                <a:cs typeface="Arial" panose="020B0604020202020204" pitchFamily="34" charset="0"/>
              </a:rPr>
              <a:t>com.example.Main</a:t>
            </a:r>
            <a:endParaRPr lang="en-US" sz="19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vi-V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62421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BF79DB-42F9-A37D-6EEB-9B529C27A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CF17E-CDD4-783B-8E80-795FB6E60E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Một số vấn đề khi sử dụng thư viện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1464AE-1246-3526-502A-D6BE047427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134056"/>
          </a:xfrm>
        </p:spPr>
        <p:txBody>
          <a:bodyPr>
            <a:normAutofit/>
          </a:bodyPr>
          <a:lstStyle/>
          <a:p>
            <a:r>
              <a:rPr lang="en-US" sz="2200">
                <a:latin typeface="Arial" panose="020B0604020202020204" pitchFamily="34" charset="0"/>
                <a:cs typeface="Arial" panose="020B0604020202020204" pitchFamily="34" charset="0"/>
              </a:rPr>
              <a:t>Không cung cấp đủ (hoặc cung cấp sai) thư viện khi biên dịch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200">
                <a:latin typeface="Arial" panose="020B0604020202020204" pitchFamily="34" charset="0"/>
                <a:cs typeface="Arial" panose="020B0604020202020204" pitchFamily="34" charset="0"/>
              </a:rPr>
              <a:t>Vấn đề tương tự khi chạy ứng dụng</a:t>
            </a:r>
          </a:p>
          <a:p>
            <a:pPr lvl="1"/>
            <a:r>
              <a:rPr lang="en-US" sz="2000">
                <a:latin typeface="Arial" panose="020B0604020202020204" pitchFamily="34" charset="0"/>
                <a:cs typeface="Arial" panose="020B0604020202020204" pitchFamily="34" charset="0"/>
              </a:rPr>
              <a:t>Fix: Thêm </a:t>
            </a:r>
            <a:r>
              <a:rPr lang="en-US" sz="2000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classpath</a:t>
            </a:r>
            <a:r>
              <a:rPr lang="en-US" sz="2000">
                <a:latin typeface="Arial" panose="020B0604020202020204" pitchFamily="34" charset="0"/>
                <a:cs typeface="Arial" panose="020B0604020202020204" pitchFamily="34" charset="0"/>
              </a:rPr>
              <a:t> chứa đầy đủ thư viện khi biên dịch/chạy</a:t>
            </a:r>
            <a:br>
              <a:rPr lang="en-US" sz="200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0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200">
                <a:latin typeface="Arial" panose="020B0604020202020204" pitchFamily="34" charset="0"/>
                <a:cs typeface="Arial" panose="020B0604020202020204" pitchFamily="34" charset="0"/>
              </a:rPr>
              <a:t>Cung cấp sai version của thư viện khi chạy ứng dụng</a:t>
            </a:r>
          </a:p>
          <a:p>
            <a:r>
              <a:rPr lang="en-US" sz="2200">
                <a:latin typeface="Arial" panose="020B0604020202020204" pitchFamily="34" charset="0"/>
                <a:cs typeface="Arial" panose="020B0604020202020204" pitchFamily="34" charset="0"/>
              </a:rPr>
              <a:t>Cung cấp nhiều phiên bản của cùng một thư viện</a:t>
            </a:r>
          </a:p>
          <a:p>
            <a:pPr lvl="1"/>
            <a:r>
              <a:rPr lang="en-US" sz="2000">
                <a:latin typeface="Arial" panose="020B0604020202020204" pitchFamily="34" charset="0"/>
                <a:cs typeface="Arial" panose="020B0604020202020204" pitchFamily="34" charset="0"/>
              </a:rPr>
              <a:t>Các lỗi </a:t>
            </a:r>
            <a:r>
              <a:rPr lang="en-US" sz="200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có thể </a:t>
            </a:r>
            <a:r>
              <a:rPr lang="en-US" sz="2000">
                <a:latin typeface="Arial" panose="020B0604020202020204" pitchFamily="34" charset="0"/>
                <a:cs typeface="Arial" panose="020B0604020202020204" pitchFamily="34" charset="0"/>
              </a:rPr>
              <a:t>xảy ra: NoClassDefFoundError/ClassNotFoundException, NoSuchMethodError, NoSuchFieldError</a:t>
            </a:r>
          </a:p>
        </p:txBody>
      </p:sp>
    </p:spTree>
    <p:extLst>
      <p:ext uri="{BB962C8B-B14F-4D97-AF65-F5344CB8AC3E}">
        <p14:creationId xmlns:p14="http://schemas.microsoft.com/office/powerpoint/2010/main" val="16763313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3423C8-66C9-4E0F-34CB-1966A78E4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B266C2-84F7-62ED-0F91-E1ADBA452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Ví dụ với Spring app đơn giản (cmd)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39C501-7D1B-178F-EB61-2D2612C2C3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134056"/>
          </a:xfrm>
        </p:spPr>
        <p:txBody>
          <a:bodyPr>
            <a:normAutofit/>
          </a:bodyPr>
          <a:lstStyle/>
          <a:p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jar</a:t>
            </a:r>
            <a:r>
              <a:rPr lang="en-US" i="1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b="1">
                <a:latin typeface="Arial" panose="020B0604020202020204" pitchFamily="34" charset="0"/>
                <a:cs typeface="Arial" panose="020B0604020202020204" pitchFamily="34" charset="0"/>
              </a:rPr>
              <a:t>J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ava</a:t>
            </a:r>
            <a:r>
              <a:rPr lang="en-US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>
                <a:latin typeface="Arial" panose="020B0604020202020204" pitchFamily="34" charset="0"/>
                <a:cs typeface="Arial" panose="020B0604020202020204" pitchFamily="34" charset="0"/>
              </a:rPr>
              <a:t>Ar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chive</a:t>
            </a:r>
          </a:p>
          <a:p>
            <a:pPr lvl="1"/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Định dạng</a:t>
            </a:r>
            <a:r>
              <a:rPr lang="en-US"/>
              <a:t>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đóng gói các file class, resource và metadata của ứng dụng Java</a:t>
            </a:r>
          </a:p>
          <a:p>
            <a:pPr lvl="1"/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JDK cung cấp tiện ích đi kèm là </a:t>
            </a:r>
            <a:r>
              <a:rPr lang="en-US" i="1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jar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, dùng để tạo/manage jar file</a:t>
            </a:r>
          </a:p>
          <a:p>
            <a:endParaRPr lang="en-US" sz="20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1900" i="1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javac</a:t>
            </a:r>
            <a:r>
              <a:rPr lang="en-US" sz="1900">
                <a:latin typeface="Arial" panose="020B0604020202020204" pitchFamily="34" charset="0"/>
                <a:cs typeface="Arial" panose="020B0604020202020204" pitchFamily="34" charset="0"/>
              </a:rPr>
              <a:t> -cp "lib\*" -d out (Get-ChildItem -Recurse -Filter *.java).FullName</a:t>
            </a:r>
            <a:br>
              <a:rPr lang="en-US" sz="190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900" i="1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jar</a:t>
            </a:r>
            <a:r>
              <a:rPr lang="en-US" sz="1900">
                <a:latin typeface="Arial" panose="020B0604020202020204" pitchFamily="34" charset="0"/>
                <a:cs typeface="Arial" panose="020B0604020202020204" pitchFamily="34" charset="0"/>
              </a:rPr>
              <a:t> cvfm </a:t>
            </a:r>
            <a:r>
              <a:rPr lang="en-US" sz="19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commandline.jar</a:t>
            </a:r>
            <a:r>
              <a:rPr lang="en-US" sz="1900">
                <a:latin typeface="Arial" panose="020B0604020202020204" pitchFamily="34" charset="0"/>
                <a:cs typeface="Arial" panose="020B0604020202020204" pitchFamily="34" charset="0"/>
              </a:rPr>
              <a:t> META-INF\MANIFEST.MF -C out .</a:t>
            </a:r>
            <a:br>
              <a:rPr lang="en-US" sz="190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900" i="1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java</a:t>
            </a:r>
            <a:r>
              <a:rPr lang="en-US" sz="1900">
                <a:latin typeface="Arial" panose="020B0604020202020204" pitchFamily="34" charset="0"/>
                <a:cs typeface="Arial" panose="020B0604020202020204" pitchFamily="34" charset="0"/>
              </a:rPr>
              <a:t> -cp "commandline.jar;lib\*" com.example.Main</a:t>
            </a:r>
            <a:br>
              <a:rPr lang="en-US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9083835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262</TotalTime>
  <Words>431</Words>
  <Application>Microsoft Office PowerPoint</Application>
  <PresentationFormat>Widescreen</PresentationFormat>
  <Paragraphs>26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Gill Sans MT</vt:lpstr>
      <vt:lpstr>Gallery</vt:lpstr>
      <vt:lpstr>Basic Java</vt:lpstr>
      <vt:lpstr>Biên dịch và khởi chạy</vt:lpstr>
      <vt:lpstr>… Cùng với thư viện bên ngoài</vt:lpstr>
      <vt:lpstr>Một số vấn đề khi sử dụng thư viện</vt:lpstr>
      <vt:lpstr>Ví dụ với Spring app đơn giản (cmd)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Tử Song</dc:creator>
  <cp:lastModifiedBy>Tử Song</cp:lastModifiedBy>
  <cp:revision>21</cp:revision>
  <dcterms:created xsi:type="dcterms:W3CDTF">2025-11-20T10:24:40Z</dcterms:created>
  <dcterms:modified xsi:type="dcterms:W3CDTF">2025-12-04T04:30:37Z</dcterms:modified>
</cp:coreProperties>
</file>