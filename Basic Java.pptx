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777D-AA10-4302-9FEE-E5B4EBC6727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F16EEC0E-FDB9-40EC-BCC0-E8F9B382FF9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2665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777D-AA10-4302-9FEE-E5B4EBC6727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EC0E-FDB9-40EC-BCC0-E8F9B382FF90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324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777D-AA10-4302-9FEE-E5B4EBC6727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EC0E-FDB9-40EC-BCC0-E8F9B382FF9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2165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777D-AA10-4302-9FEE-E5B4EBC6727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EC0E-FDB9-40EC-BCC0-E8F9B382FF90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089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777D-AA10-4302-9FEE-E5B4EBC6727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EC0E-FDB9-40EC-BCC0-E8F9B382FF90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88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777D-AA10-4302-9FEE-E5B4EBC6727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EC0E-FDB9-40EC-BCC0-E8F9B382FF90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595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777D-AA10-4302-9FEE-E5B4EBC6727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EC0E-FDB9-40EC-BCC0-E8F9B382F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1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777D-AA10-4302-9FEE-E5B4EBC6727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EC0E-FDB9-40EC-BCC0-E8F9B382FF90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1541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FAF777D-AA10-4302-9FEE-E5B4EBC6727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EC0E-FDB9-40EC-BCC0-E8F9B382FF90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0407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777D-AA10-4302-9FEE-E5B4EBC6727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EC0E-FDB9-40EC-BCC0-E8F9B382FF90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6028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777D-AA10-4302-9FEE-E5B4EBC6727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EEC0E-FDB9-40EC-BCC0-E8F9B382FF9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934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F777D-AA10-4302-9FEE-E5B4EBC6727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16EEC0E-FDB9-40EC-BCC0-E8F9B382FF9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574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BEF39-18B4-70F4-D414-27C7D6193B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Basic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3E072-21E8-2DF7-4DCF-A8CB278EB8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With command line</a:t>
            </a:r>
          </a:p>
        </p:txBody>
      </p:sp>
    </p:spTree>
    <p:extLst>
      <p:ext uri="{BB962C8B-B14F-4D97-AF65-F5344CB8AC3E}">
        <p14:creationId xmlns:p14="http://schemas.microsoft.com/office/powerpoint/2010/main" val="2828388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13619-7B9D-B172-20FA-6D100B8B3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khởi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chạy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DF075-5344-9609-B854-83BC4CC92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34056"/>
          </a:xfrm>
        </p:spPr>
        <p:txBody>
          <a:bodyPr>
            <a:normAutofit lnSpcReduction="10000"/>
          </a:bodyPr>
          <a:lstStyle/>
          <a:p>
            <a:r>
              <a:rPr lang="vi-VN" sz="2200" i="1" dirty="0">
                <a:solidFill>
                  <a:schemeClr val="accent5"/>
                </a:solidFill>
              </a:rPr>
              <a:t>javac</a:t>
            </a:r>
            <a:r>
              <a:rPr lang="vi-VN" sz="2200" dirty="0"/>
              <a:t>: Trình biên dịch Java, chuyển mã nguồn </a:t>
            </a:r>
            <a:r>
              <a:rPr lang="en-US" sz="2200" dirty="0"/>
              <a:t>*</a:t>
            </a:r>
            <a:r>
              <a:rPr lang="vi-VN" sz="2200" dirty="0"/>
              <a:t>.java thành </a:t>
            </a:r>
            <a:r>
              <a:rPr lang="vi-VN" sz="2200" dirty="0">
                <a:solidFill>
                  <a:schemeClr val="accent1"/>
                </a:solidFill>
              </a:rPr>
              <a:t>bytecode</a:t>
            </a:r>
            <a:r>
              <a:rPr lang="vi-VN" sz="2200" dirty="0"/>
              <a:t> (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ngôn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ngữ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chung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vi-VN" sz="2200" dirty="0"/>
              <a:t>chạy đa nền tảng).</a:t>
            </a:r>
            <a:endParaRPr lang="en-US" sz="2200" dirty="0"/>
          </a:p>
          <a:p>
            <a:r>
              <a:rPr lang="vi-VN" sz="2200" i="1" dirty="0">
                <a:solidFill>
                  <a:schemeClr val="accent5"/>
                </a:solidFill>
              </a:rPr>
              <a:t>java</a:t>
            </a:r>
            <a:r>
              <a:rPr lang="vi-VN" sz="2200" dirty="0"/>
              <a:t>: Trình chạy Java, thực thi </a:t>
            </a:r>
            <a:r>
              <a:rPr lang="vi-VN" sz="2200" dirty="0">
                <a:solidFill>
                  <a:schemeClr val="accent1"/>
                </a:solidFill>
              </a:rPr>
              <a:t>bytecode</a:t>
            </a:r>
            <a:r>
              <a:rPr lang="vi-VN" sz="2200" dirty="0"/>
              <a:t> trên Java Virtual Machine (JVM).</a:t>
            </a:r>
            <a:endParaRPr lang="en-US" sz="2200" dirty="0"/>
          </a:p>
          <a:p>
            <a:r>
              <a:rPr lang="vi-VN" sz="2200" i="1" dirty="0">
                <a:solidFill>
                  <a:schemeClr val="accent5"/>
                </a:solidFill>
              </a:rPr>
              <a:t>classpath</a:t>
            </a:r>
            <a:r>
              <a:rPr lang="vi-VN" sz="2200" dirty="0"/>
              <a:t>: Đường dẫn đến </a:t>
            </a:r>
            <a:r>
              <a:rPr lang="vi-VN" sz="2200" dirty="0">
                <a:solidFill>
                  <a:schemeClr val="accent1"/>
                </a:solidFill>
              </a:rPr>
              <a:t>bytecode</a:t>
            </a:r>
            <a:r>
              <a:rPr lang="vi-VN" sz="2200" dirty="0"/>
              <a:t> và các thư viện cần thiết để chạy chương trình.</a:t>
            </a:r>
            <a:endParaRPr lang="en-US" sz="2200" dirty="0"/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# compile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thư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9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javac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-d </a:t>
            </a:r>
            <a:r>
              <a:rPr lang="en-US" sz="19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(Get-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ChildItem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-Recurse -Filter *.java).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FullName</a:t>
            </a:r>
            <a:b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khởi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chạy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class Main,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classpath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8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JVM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nơi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load bytecode</a:t>
            </a:r>
            <a:b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-cp </a:t>
            </a:r>
            <a:r>
              <a:rPr lang="en-US" sz="19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com.example.Main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524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64EAD-3400-AC74-C0E7-E6F8A3456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31968-B3A7-8C70-F44F-9BC7DAE32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ngoài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84C22-B3BE-A267-5E3C-9B0B3EC02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34056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Thư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viện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ngoài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Các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gói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jar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chứa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bytecode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biên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Cung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Utility, API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developer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viết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StringUtils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common-lang3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cung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method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thao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String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isEmpty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join,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removeAll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…).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Thường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chia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sẻ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khai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internet (Maven,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…).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classpath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thư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thư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viện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jar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đang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nằm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ở ổ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đĩa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D)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900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-cp "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out;D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:\repository\org\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apache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\commons\commons-lang3\3.18.0\commons-lang3-3.18.0.jar"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com.example.Main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242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F79DB-42F9-A37D-6EEB-9B529C27A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CF17E-CDD4-783B-8E80-795FB6E60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Một số vấn đề khi sử dụng thư viện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464AE-1246-3526-502A-D6BE04742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34056"/>
          </a:xfrm>
        </p:spPr>
        <p:txBody>
          <a:bodyPr>
            <a:normAutofit/>
          </a:bodyPr>
          <a:lstStyle/>
          <a:p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Không cung cấp đủ (hoặc cung cấp sai) thư viện khi biên dịch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Vấn đề tương tự khi chạy ứng dụng</a:t>
            </a:r>
          </a:p>
          <a:p>
            <a:pPr lvl="1"/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Fix: Thêm </a:t>
            </a:r>
            <a:r>
              <a:rPr lang="en-US" sz="20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classpath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chứa đầy đủ thư viện khi biên dịch/chạy</a:t>
            </a:r>
            <a:b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Cung cấp sai version của thư viện khi chạy ứng dụng</a:t>
            </a:r>
          </a:p>
          <a:p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Cung cấp nhiều phiên bản của cùng một thư viện</a:t>
            </a:r>
          </a:p>
          <a:p>
            <a:pPr lvl="1"/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Các lỗi </a:t>
            </a:r>
            <a:r>
              <a:rPr lang="en-US" sz="200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 thể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xảy ra: NoClassDefFoundError/ClassNotFoundException, NoSuchMethodError, NoSuchFieldError</a:t>
            </a:r>
          </a:p>
        </p:txBody>
      </p:sp>
    </p:spTree>
    <p:extLst>
      <p:ext uri="{BB962C8B-B14F-4D97-AF65-F5344CB8AC3E}">
        <p14:creationId xmlns:p14="http://schemas.microsoft.com/office/powerpoint/2010/main" val="1676331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423C8-66C9-4E0F-34CB-1966A78E4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266C2-84F7-62ED-0F91-E1ADBA452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Ví dụ với Spring app đơn giản (cmd)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9C501-7D1B-178F-EB61-2D2612C2C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34056"/>
          </a:xfrm>
        </p:spPr>
        <p:txBody>
          <a:bodyPr>
            <a:normAutofit lnSpcReduction="10000"/>
          </a:bodyPr>
          <a:lstStyle/>
          <a:p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jar</a:t>
            </a:r>
            <a:r>
              <a:rPr lang="en-US" sz="2200" i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ava</a:t>
            </a:r>
            <a:r>
              <a:rPr lang="en-US" sz="22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chive</a:t>
            </a:r>
          </a:p>
          <a:p>
            <a:pPr lvl="1"/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Định dạng đóng gói các file class, resource và metadata của ứng dụng Java</a:t>
            </a:r>
          </a:p>
          <a:p>
            <a:pPr lvl="1"/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JDK cung cấp tiện ích đi kèm là </a:t>
            </a:r>
            <a:r>
              <a:rPr lang="en-US" sz="2000" i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jar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dùng để tạo/manage jar file</a:t>
            </a:r>
          </a:p>
          <a:p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Non-executable jar: Không chứa method main</a:t>
            </a:r>
          </a:p>
          <a:p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Executable jar: Chứa method main, chạy được</a:t>
            </a:r>
          </a:p>
          <a:p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900" i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javac</a:t>
            </a:r>
            <a:r>
              <a:rPr lang="en-US" sz="1900">
                <a:latin typeface="Arial" panose="020B0604020202020204" pitchFamily="34" charset="0"/>
                <a:cs typeface="Arial" panose="020B0604020202020204" pitchFamily="34" charset="0"/>
              </a:rPr>
              <a:t> -cp "lib\*" -d out (Get-ChildItem -Recurse -Filter *.java).FullName</a:t>
            </a:r>
            <a:br>
              <a:rPr lang="en-US" sz="19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900" i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jar</a:t>
            </a:r>
            <a:r>
              <a:rPr lang="en-US" sz="1900">
                <a:latin typeface="Arial" panose="020B0604020202020204" pitchFamily="34" charset="0"/>
                <a:cs typeface="Arial" panose="020B0604020202020204" pitchFamily="34" charset="0"/>
              </a:rPr>
              <a:t> cvfm </a:t>
            </a:r>
            <a:r>
              <a:rPr lang="en-US" sz="19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commandline.jar</a:t>
            </a:r>
            <a:r>
              <a:rPr lang="en-US" sz="1900">
                <a:latin typeface="Arial" panose="020B0604020202020204" pitchFamily="34" charset="0"/>
                <a:cs typeface="Arial" panose="020B0604020202020204" pitchFamily="34" charset="0"/>
              </a:rPr>
              <a:t> META-INF\MANIFEST.MF -C out .</a:t>
            </a:r>
            <a:br>
              <a:rPr lang="en-US" sz="19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900" i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</a:t>
            </a:r>
            <a:r>
              <a:rPr lang="en-US" sz="1900">
                <a:latin typeface="Arial" panose="020B0604020202020204" pitchFamily="34" charset="0"/>
                <a:cs typeface="Arial" panose="020B0604020202020204" pitchFamily="34" charset="0"/>
              </a:rPr>
              <a:t> -cp "commandline.jar;lib\*" com.example.Main</a:t>
            </a: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08383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294</TotalTime>
  <Words>447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Gallery</vt:lpstr>
      <vt:lpstr>Basic Java</vt:lpstr>
      <vt:lpstr>Biên dịch và khởi chạy</vt:lpstr>
      <vt:lpstr>… Cùng với thư viện bên ngoài</vt:lpstr>
      <vt:lpstr>Một số vấn đề khi sử dụng thư viện</vt:lpstr>
      <vt:lpstr>Ví dụ với Spring app đơn giản (cmd)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Tử Song</dc:creator>
  <cp:lastModifiedBy>Tử Song</cp:lastModifiedBy>
  <cp:revision>23</cp:revision>
  <dcterms:created xsi:type="dcterms:W3CDTF">2025-11-20T10:24:40Z</dcterms:created>
  <dcterms:modified xsi:type="dcterms:W3CDTF">2025-12-31T14:58:13Z</dcterms:modified>
</cp:coreProperties>
</file>