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696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417779" y="802298"/>
            <a:ext cx="8637073" cy="2541431"/>
          </a:xfrm>
        </p:spPr>
        <p:txBody>
          <a:bodyPr bIns="0" anchor="b">
            <a:normAutofit/>
          </a:bodyPr>
          <a:lstStyle>
            <a:lvl1pPr algn="l">
              <a:defRPr sz="6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417780" y="3531204"/>
            <a:ext cx="8637072" cy="977621"/>
          </a:xfrm>
        </p:spPr>
        <p:txBody>
          <a:bodyPr tIns="91440" bIns="91440">
            <a:normAutofit/>
          </a:bodyPr>
          <a:lstStyle>
            <a:lvl1pPr marL="0" indent="0" algn="l">
              <a:buNone/>
              <a:defRPr sz="1800" b="0" cap="all" baseline="0">
                <a:solidFill>
                  <a:schemeClr val="tx1"/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AF777D-AA10-4302-9FEE-E5B4EBC67278}" type="datetimeFigureOut">
              <a:rPr lang="en-US" smtClean="0"/>
              <a:t>12/18/2025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416500" y="329307"/>
            <a:ext cx="4973915" cy="309201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437664" y="798973"/>
            <a:ext cx="811019" cy="503578"/>
          </a:xfrm>
        </p:spPr>
        <p:txBody>
          <a:bodyPr/>
          <a:lstStyle/>
          <a:p>
            <a:fld id="{F16EEC0E-FDB9-40EC-BCC0-E8F9B382FF90}" type="slidenum">
              <a:rPr lang="en-US" smtClean="0"/>
              <a:t>‹#›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2417780" y="3528542"/>
            <a:ext cx="863707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7266544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AF777D-AA10-4302-9FEE-E5B4EBC67278}" type="datetimeFigureOut">
              <a:rPr lang="en-US" smtClean="0"/>
              <a:t>12/18/2025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6EEC0E-FDB9-40EC-BCC0-E8F9B382FF90}" type="slidenum">
              <a:rPr lang="en-US" smtClean="0"/>
              <a:t>‹#›</a:t>
            </a:fld>
            <a:endParaRPr lang="en-US"/>
          </a:p>
        </p:txBody>
      </p:sp>
      <p:cxnSp>
        <p:nvCxnSpPr>
          <p:cNvPr id="33" name="Straight Connector 32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8032495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54239" y="1756130"/>
            <a:ext cx="8643154" cy="1887950"/>
          </a:xfrm>
        </p:spPr>
        <p:txBody>
          <a:bodyPr anchor="b">
            <a:normAutofit/>
          </a:bodyPr>
          <a:lstStyle>
            <a:lvl1pPr algn="l"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54239" y="3806195"/>
            <a:ext cx="8630446" cy="1012929"/>
          </a:xfrm>
        </p:spPr>
        <p:txBody>
          <a:bodyPr tIns="91440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AF777D-AA10-4302-9FEE-E5B4EBC67278}" type="datetimeFigureOut">
              <a:rPr lang="en-US" smtClean="0"/>
              <a:t>12/18/2025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6EEC0E-FDB9-40EC-BCC0-E8F9B382FF90}" type="slidenum">
              <a:rPr lang="en-US" smtClean="0"/>
              <a:t>‹#›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1454239" y="3804985"/>
            <a:ext cx="8630446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121651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9217" y="804889"/>
            <a:ext cx="9605635" cy="105930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447331" y="2010878"/>
            <a:ext cx="4645152" cy="344859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13771" y="2017343"/>
            <a:ext cx="4645152" cy="344152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AF777D-AA10-4302-9FEE-E5B4EBC67278}" type="datetimeFigureOut">
              <a:rPr lang="en-US" smtClean="0"/>
              <a:t>12/18/2025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6EEC0E-FDB9-40EC-BCC0-E8F9B382FF90}" type="slidenum">
              <a:rPr lang="en-US" smtClean="0"/>
              <a:t>‹#›</a:t>
            </a:fld>
            <a:endParaRPr lang="en-US"/>
          </a:p>
        </p:txBody>
      </p:sp>
      <p:cxnSp>
        <p:nvCxnSpPr>
          <p:cNvPr id="35" name="Straight Connector 34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4308954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7191" y="804163"/>
            <a:ext cx="9607661" cy="105631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47191" y="2019549"/>
            <a:ext cx="4645152" cy="801943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447191" y="2824269"/>
            <a:ext cx="4645152" cy="264445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12362" y="2023003"/>
            <a:ext cx="4645152" cy="802237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412362" y="2821491"/>
            <a:ext cx="4645152" cy="263737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AF777D-AA10-4302-9FEE-E5B4EBC67278}" type="datetimeFigureOut">
              <a:rPr lang="en-US" smtClean="0"/>
              <a:t>12/18/2025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6EEC0E-FDB9-40EC-BCC0-E8F9B382FF90}" type="slidenum">
              <a:rPr lang="en-US" smtClean="0"/>
              <a:t>‹#›</a:t>
            </a:fld>
            <a:endParaRPr lang="en-US"/>
          </a:p>
        </p:txBody>
      </p:sp>
      <p:cxnSp>
        <p:nvCxnSpPr>
          <p:cNvPr id="29" name="Straight Connector 28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188836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AF777D-AA10-4302-9FEE-E5B4EBC67278}" type="datetimeFigureOut">
              <a:rPr lang="en-US" smtClean="0"/>
              <a:t>12/18/2025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6EEC0E-FDB9-40EC-BCC0-E8F9B382FF90}" type="slidenum">
              <a:rPr lang="en-US" smtClean="0"/>
              <a:t>‹#›</a:t>
            </a:fld>
            <a:endParaRPr lang="en-US"/>
          </a:p>
        </p:txBody>
      </p:sp>
      <p:cxnSp>
        <p:nvCxnSpPr>
          <p:cNvPr id="25" name="Straight Connector 24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905956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AF777D-AA10-4302-9FEE-E5B4EBC67278}" type="datetimeFigureOut">
              <a:rPr lang="en-US" smtClean="0"/>
              <a:t>12/18/2025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6EEC0E-FDB9-40EC-BCC0-E8F9B382FF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96157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4671" y="798973"/>
            <a:ext cx="3273099" cy="2247117"/>
          </a:xfrm>
        </p:spPr>
        <p:txBody>
          <a:bodyPr anchor="b">
            <a:normAutofit/>
          </a:bodyPr>
          <a:lstStyle>
            <a:lvl1pPr algn="l"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43714" y="798974"/>
            <a:ext cx="6012470" cy="4658826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44671" y="3205491"/>
            <a:ext cx="3275013" cy="2248181"/>
          </a:xfrm>
        </p:spPr>
        <p:txBody>
          <a:bodyPr/>
          <a:lstStyle>
            <a:lvl1pPr marL="0" indent="0" algn="l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AF777D-AA10-4302-9FEE-E5B4EBC67278}" type="datetimeFigureOut">
              <a:rPr lang="en-US" smtClean="0"/>
              <a:t>12/18/2025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6EEC0E-FDB9-40EC-BCC0-E8F9B382FF90}" type="slidenum">
              <a:rPr lang="en-US" smtClean="0"/>
              <a:t>‹#›</a:t>
            </a:fld>
            <a:endParaRPr lang="en-US"/>
          </a:p>
        </p:txBody>
      </p:sp>
      <p:cxnSp>
        <p:nvCxnSpPr>
          <p:cNvPr id="17" name="Straight Connector 16"/>
          <p:cNvCxnSpPr/>
          <p:nvPr/>
        </p:nvCxnSpPr>
        <p:spPr>
          <a:xfrm>
            <a:off x="1448280" y="3205491"/>
            <a:ext cx="3269490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4154125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7477387" y="482170"/>
            <a:ext cx="4074533" cy="5149101"/>
            <a:chOff x="7477387" y="482170"/>
            <a:chExt cx="4074533" cy="5149101"/>
          </a:xfrm>
        </p:grpSpPr>
        <p:sp>
          <p:nvSpPr>
            <p:cNvPr id="18" name="Rectangle 17"/>
            <p:cNvSpPr/>
            <p:nvPr/>
          </p:nvSpPr>
          <p:spPr bwMode="black">
            <a:xfrm>
              <a:off x="7477387" y="482170"/>
              <a:ext cx="4074533" cy="5149101"/>
            </a:xfrm>
            <a:prstGeom prst="rect">
              <a:avLst/>
            </a:prstGeom>
            <a:gradFill>
              <a:gsLst>
                <a:gs pos="0">
                  <a:srgbClr val="000001"/>
                </a:gs>
                <a:gs pos="100000">
                  <a:srgbClr val="191919"/>
                </a:gs>
              </a:gsLst>
            </a:gradFill>
            <a:ln w="76200" cmpd="sng">
              <a:noFill/>
              <a:miter lim="800000"/>
            </a:ln>
            <a:effectLst>
              <a:outerShdw blurRad="127000" dist="228600" dir="4740000" sx="98000" sy="98000" algn="tl" rotWithShape="0">
                <a:srgbClr val="000000">
                  <a:alpha val="34000"/>
                </a:srgbClr>
              </a:outerShdw>
            </a:effectLst>
            <a:scene3d>
              <a:camera prst="orthographicFront"/>
              <a:lightRig rig="threePt" dir="t"/>
            </a:scene3d>
            <a:sp3d>
              <a:bevelT w="152400" h="50800" prst="softRound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Rectangle 18"/>
            <p:cNvSpPr/>
            <p:nvPr/>
          </p:nvSpPr>
          <p:spPr bwMode="blackWhite">
            <a:xfrm>
              <a:off x="7790446" y="812506"/>
              <a:ext cx="3450289" cy="4466452"/>
            </a:xfrm>
            <a:prstGeom prst="rect">
              <a:avLst/>
            </a:prstGeom>
            <a:gradFill>
              <a:gsLst>
                <a:gs pos="0">
                  <a:srgbClr val="DADADA"/>
                </a:gs>
                <a:gs pos="100000">
                  <a:srgbClr val="FFFFFE"/>
                </a:gs>
              </a:gsLst>
              <a:lin ang="16200000" scaled="0"/>
            </a:gradFill>
            <a:ln w="50800" cmpd="sng">
              <a:solidFill>
                <a:srgbClr val="191919"/>
              </a:solidFill>
              <a:miter lim="800000"/>
            </a:ln>
            <a:effectLst>
              <a:innerShdw blurRad="63500" dist="88900" dir="14100000">
                <a:srgbClr val="000000">
                  <a:alpha val="30000"/>
                </a:srgbClr>
              </a:innerShdw>
            </a:effectLst>
            <a:scene3d>
              <a:camera prst="orthographicFront"/>
              <a:lightRig rig="threePt" dir="t"/>
            </a:scene3d>
            <a:sp3d>
              <a:bevelT prst="relaxedInset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51206" y="1129513"/>
            <a:ext cx="5532328" cy="1830584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124389" y="1122542"/>
            <a:ext cx="2791171" cy="3866327"/>
          </a:xfrm>
          <a:solidFill>
            <a:schemeClr val="bg1">
              <a:lumMod val="85000"/>
            </a:schemeClr>
          </a:solidFill>
          <a:ln w="9525" cap="sq">
            <a:noFill/>
            <a:miter lim="800000"/>
          </a:ln>
          <a:effectLst/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50329" y="3145992"/>
            <a:ext cx="5524404" cy="2003742"/>
          </a:xfrm>
        </p:spPr>
        <p:txBody>
          <a:bodyPr>
            <a:normAutofit/>
          </a:bodyPr>
          <a:lstStyle>
            <a:lvl1pPr marL="0" indent="0" algn="l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1447382" y="5469856"/>
            <a:ext cx="5527351" cy="320123"/>
          </a:xfrm>
        </p:spPr>
        <p:txBody>
          <a:bodyPr/>
          <a:lstStyle>
            <a:lvl1pPr algn="l">
              <a:defRPr/>
            </a:lvl1pPr>
          </a:lstStyle>
          <a:p>
            <a:fld id="{8FAF777D-AA10-4302-9FEE-E5B4EBC67278}" type="datetimeFigureOut">
              <a:rPr lang="en-US" smtClean="0"/>
              <a:t>12/18/2025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447382" y="318640"/>
            <a:ext cx="5541004" cy="320931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6EEC0E-FDB9-40EC-BCC0-E8F9B382FF90}" type="slidenum">
              <a:rPr lang="en-US" smtClean="0"/>
              <a:t>‹#›</a:t>
            </a:fld>
            <a:endParaRPr lang="en-US"/>
          </a:p>
        </p:txBody>
      </p:sp>
      <p:cxnSp>
        <p:nvCxnSpPr>
          <p:cNvPr id="31" name="Straight Connector 30"/>
          <p:cNvCxnSpPr/>
          <p:nvPr/>
        </p:nvCxnSpPr>
        <p:spPr>
          <a:xfrm>
            <a:off x="1447382" y="3143605"/>
            <a:ext cx="5527351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404076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AF777D-AA10-4302-9FEE-E5B4EBC67278}" type="datetimeFigureOut">
              <a:rPr lang="en-US" smtClean="0"/>
              <a:t>12/18/2025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6EEC0E-FDB9-40EC-BCC0-E8F9B382FF90}" type="slidenum">
              <a:rPr lang="en-US" smtClean="0"/>
              <a:t>‹#›</a:t>
            </a:fld>
            <a:endParaRPr lang="en-US"/>
          </a:p>
        </p:txBody>
      </p:sp>
      <p:cxnSp>
        <p:nvCxnSpPr>
          <p:cNvPr id="26" name="Straight Connector 25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7602817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439111" y="798973"/>
            <a:ext cx="1615742" cy="4659889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444672" y="798973"/>
            <a:ext cx="7828830" cy="465988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AF777D-AA10-4302-9FEE-E5B4EBC67278}" type="datetimeFigureOut">
              <a:rPr lang="en-US" smtClean="0"/>
              <a:t>12/18/2025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6EEC0E-FDB9-40EC-BCC0-E8F9B382FF90}" type="slidenum">
              <a:rPr lang="en-US" smtClean="0"/>
              <a:t>‹#›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9439111" y="798973"/>
            <a:ext cx="0" cy="4659889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219342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2019476"/>
            <a:ext cx="12192000" cy="4105941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38" b="-1538"/>
          <a:stretch/>
        </p:blipFill>
        <p:spPr bwMode="black">
          <a:xfrm>
            <a:off x="0" y="6126480"/>
            <a:ext cx="12192000" cy="74295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451579" y="804519"/>
            <a:ext cx="9603275" cy="104923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51579" y="2015732"/>
            <a:ext cx="9603275" cy="345061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554138" y="330370"/>
            <a:ext cx="3500715" cy="3092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FAF777D-AA10-4302-9FEE-E5B4EBC67278}" type="datetimeFigureOut">
              <a:rPr lang="en-US" smtClean="0"/>
              <a:t>12/18/2025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451579" y="329307"/>
            <a:ext cx="5938836" cy="3092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0060" y="798973"/>
            <a:ext cx="811019" cy="503578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r">
              <a:defRPr sz="2800">
                <a:solidFill>
                  <a:schemeClr val="accent1"/>
                </a:solidFill>
              </a:defRPr>
            </a:lvl1pPr>
          </a:lstStyle>
          <a:p>
            <a:fld id="{F16EEC0E-FDB9-40EC-BCC0-E8F9B382FF90}" type="slidenum">
              <a:rPr lang="en-US" smtClean="0"/>
              <a:t>‹#›</a:t>
            </a:fld>
            <a:endParaRPr lang="en-US"/>
          </a:p>
        </p:txBody>
      </p:sp>
      <p:cxnSp>
        <p:nvCxnSpPr>
          <p:cNvPr id="10" name="Straight Connector 9"/>
          <p:cNvCxnSpPr/>
          <p:nvPr/>
        </p:nvCxnSpPr>
        <p:spPr>
          <a:xfrm>
            <a:off x="0" y="6128413"/>
            <a:ext cx="12192000" cy="0"/>
          </a:xfrm>
          <a:prstGeom prst="line">
            <a:avLst/>
          </a:prstGeom>
          <a:ln w="12700">
            <a:solidFill>
              <a:srgbClr val="000001">
                <a:alpha val="2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1857446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b="0" i="0" kern="1200" cap="all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2000" kern="120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80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600" kern="120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40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DBEF39-18B4-70F4-D414-27C7D6193BF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algn="ctr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Basic Java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293E072-21E8-2DF7-4DCF-A8CB278EB82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algn="ctr"/>
            <a:r>
              <a:rPr lang="en-US" dirty="0"/>
              <a:t>With command line</a:t>
            </a:r>
          </a:p>
        </p:txBody>
      </p:sp>
    </p:spTree>
    <p:extLst>
      <p:ext uri="{BB962C8B-B14F-4D97-AF65-F5344CB8AC3E}">
        <p14:creationId xmlns:p14="http://schemas.microsoft.com/office/powerpoint/2010/main" val="282838827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313619-7B9D-B172-20FA-6D100B8B33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Biên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dịch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và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khởi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chạy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ADF075-5344-9609-B854-83BC4CC92CD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2015732"/>
            <a:ext cx="9603275" cy="4134056"/>
          </a:xfrm>
        </p:spPr>
        <p:txBody>
          <a:bodyPr>
            <a:normAutofit lnSpcReduction="10000"/>
          </a:bodyPr>
          <a:lstStyle/>
          <a:p>
            <a:r>
              <a:rPr lang="vi-VN" sz="2200" i="1" dirty="0">
                <a:solidFill>
                  <a:schemeClr val="accent5"/>
                </a:solidFill>
              </a:rPr>
              <a:t>javac</a:t>
            </a:r>
            <a:r>
              <a:rPr lang="vi-VN" sz="2200" dirty="0"/>
              <a:t>: Trình biên dịch Java, chuyển mã nguồn </a:t>
            </a:r>
            <a:r>
              <a:rPr lang="en-US" sz="2200" dirty="0"/>
              <a:t>*</a:t>
            </a:r>
            <a:r>
              <a:rPr lang="vi-VN" sz="2200" dirty="0"/>
              <a:t>.java thành </a:t>
            </a:r>
            <a:r>
              <a:rPr lang="vi-VN" sz="2200" dirty="0">
                <a:solidFill>
                  <a:schemeClr val="accent1"/>
                </a:solidFill>
              </a:rPr>
              <a:t>bytecode</a:t>
            </a:r>
            <a:r>
              <a:rPr lang="vi-VN" sz="2200" dirty="0"/>
              <a:t> (</a:t>
            </a:r>
            <a:r>
              <a:rPr lang="en-US" sz="2200" dirty="0" err="1">
                <a:latin typeface="Arial" panose="020B0604020202020204" pitchFamily="34" charset="0"/>
                <a:cs typeface="Arial" panose="020B0604020202020204" pitchFamily="34" charset="0"/>
              </a:rPr>
              <a:t>dạng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200" dirty="0" err="1">
                <a:latin typeface="Arial" panose="020B0604020202020204" pitchFamily="34" charset="0"/>
                <a:cs typeface="Arial" panose="020B0604020202020204" pitchFamily="34" charset="0"/>
              </a:rPr>
              <a:t>ngôn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200" dirty="0" err="1">
                <a:latin typeface="Arial" panose="020B0604020202020204" pitchFamily="34" charset="0"/>
                <a:cs typeface="Arial" panose="020B0604020202020204" pitchFamily="34" charset="0"/>
              </a:rPr>
              <a:t>ngữ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200" dirty="0" err="1">
                <a:latin typeface="Arial" panose="020B0604020202020204" pitchFamily="34" charset="0"/>
                <a:cs typeface="Arial" panose="020B0604020202020204" pitchFamily="34" charset="0"/>
              </a:rPr>
              <a:t>chung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vi-VN" sz="2200" dirty="0"/>
              <a:t>chạy đa nền tảng).</a:t>
            </a:r>
            <a:endParaRPr lang="en-US" sz="2200" dirty="0"/>
          </a:p>
          <a:p>
            <a:r>
              <a:rPr lang="vi-VN" sz="2200" i="1" dirty="0">
                <a:solidFill>
                  <a:schemeClr val="accent5"/>
                </a:solidFill>
              </a:rPr>
              <a:t>java</a:t>
            </a:r>
            <a:r>
              <a:rPr lang="vi-VN" sz="2200" dirty="0"/>
              <a:t>: Trình chạy Java, thực thi </a:t>
            </a:r>
            <a:r>
              <a:rPr lang="vi-VN" sz="2200" dirty="0">
                <a:solidFill>
                  <a:schemeClr val="accent1"/>
                </a:solidFill>
              </a:rPr>
              <a:t>bytecode</a:t>
            </a:r>
            <a:r>
              <a:rPr lang="vi-VN" sz="2200" dirty="0"/>
              <a:t> trên Java Virtual Machine (JVM).</a:t>
            </a:r>
            <a:endParaRPr lang="en-US" sz="2200" dirty="0"/>
          </a:p>
          <a:p>
            <a:r>
              <a:rPr lang="vi-VN" sz="2200" i="1" dirty="0">
                <a:solidFill>
                  <a:schemeClr val="accent5"/>
                </a:solidFill>
              </a:rPr>
              <a:t>classpath</a:t>
            </a:r>
            <a:r>
              <a:rPr lang="vi-VN" sz="2200" dirty="0"/>
              <a:t>: Đường dẫn đến </a:t>
            </a:r>
            <a:r>
              <a:rPr lang="vi-VN" sz="2200" dirty="0">
                <a:solidFill>
                  <a:schemeClr val="accent1"/>
                </a:solidFill>
              </a:rPr>
              <a:t>bytecode</a:t>
            </a:r>
            <a:r>
              <a:rPr lang="vi-VN" sz="2200" dirty="0"/>
              <a:t> và các thư viện cần thiết để chạy chương trình.</a:t>
            </a:r>
            <a:endParaRPr lang="en-US" sz="2200" dirty="0"/>
          </a:p>
          <a:p>
            <a:pPr marL="0" indent="0">
              <a:buNone/>
            </a:pP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# compile </a:t>
            </a:r>
            <a:r>
              <a:rPr lang="en-US" sz="1800" dirty="0" err="1">
                <a:latin typeface="Arial" panose="020B0604020202020204" pitchFamily="34" charset="0"/>
                <a:cs typeface="Arial" panose="020B0604020202020204" pitchFamily="34" charset="0"/>
              </a:rPr>
              <a:t>ra</a:t>
            </a: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800" dirty="0" err="1">
                <a:latin typeface="Arial" panose="020B0604020202020204" pitchFamily="34" charset="0"/>
                <a:cs typeface="Arial" panose="020B0604020202020204" pitchFamily="34" charset="0"/>
              </a:rPr>
              <a:t>thư</a:t>
            </a: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800" dirty="0" err="1">
                <a:latin typeface="Arial" panose="020B0604020202020204" pitchFamily="34" charset="0"/>
                <a:cs typeface="Arial" panose="020B0604020202020204" pitchFamily="34" charset="0"/>
              </a:rPr>
              <a:t>mục</a:t>
            </a: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800" dirty="0">
                <a:solidFill>
                  <a:schemeClr val="accent4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out</a:t>
            </a:r>
            <a:b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1900" dirty="0" err="1">
                <a:solidFill>
                  <a:schemeClr val="accent5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javac</a:t>
            </a:r>
            <a:r>
              <a:rPr lang="en-US" sz="1900" dirty="0">
                <a:latin typeface="Arial" panose="020B0604020202020204" pitchFamily="34" charset="0"/>
                <a:cs typeface="Arial" panose="020B0604020202020204" pitchFamily="34" charset="0"/>
              </a:rPr>
              <a:t> -d </a:t>
            </a:r>
            <a:r>
              <a:rPr lang="en-US" sz="1900" dirty="0">
                <a:solidFill>
                  <a:schemeClr val="accent4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out</a:t>
            </a:r>
            <a:r>
              <a:rPr lang="en-US" sz="1900" dirty="0">
                <a:latin typeface="Arial" panose="020B0604020202020204" pitchFamily="34" charset="0"/>
                <a:cs typeface="Arial" panose="020B0604020202020204" pitchFamily="34" charset="0"/>
              </a:rPr>
              <a:t> (Get-</a:t>
            </a:r>
            <a:r>
              <a:rPr lang="en-US" sz="1900" dirty="0" err="1">
                <a:latin typeface="Arial" panose="020B0604020202020204" pitchFamily="34" charset="0"/>
                <a:cs typeface="Arial" panose="020B0604020202020204" pitchFamily="34" charset="0"/>
              </a:rPr>
              <a:t>ChildItem</a:t>
            </a:r>
            <a:r>
              <a:rPr lang="en-US" sz="1900" dirty="0">
                <a:latin typeface="Arial" panose="020B0604020202020204" pitchFamily="34" charset="0"/>
                <a:cs typeface="Arial" panose="020B0604020202020204" pitchFamily="34" charset="0"/>
              </a:rPr>
              <a:t> -Recurse -Filter *.java).</a:t>
            </a:r>
            <a:r>
              <a:rPr lang="en-US" sz="1900" dirty="0" err="1">
                <a:latin typeface="Arial" panose="020B0604020202020204" pitchFamily="34" charset="0"/>
                <a:cs typeface="Arial" panose="020B0604020202020204" pitchFamily="34" charset="0"/>
              </a:rPr>
              <a:t>FullName</a:t>
            </a:r>
            <a:br>
              <a:rPr lang="en-US" sz="1900" dirty="0">
                <a:latin typeface="Arial" panose="020B0604020202020204" pitchFamily="34" charset="0"/>
                <a:cs typeface="Arial" panose="020B0604020202020204" pitchFamily="34" charset="0"/>
              </a:rPr>
            </a:br>
            <a:br>
              <a:rPr lang="en-US" sz="19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# </a:t>
            </a:r>
            <a:r>
              <a:rPr lang="en-US" sz="1800" dirty="0" err="1">
                <a:latin typeface="Arial" panose="020B0604020202020204" pitchFamily="34" charset="0"/>
                <a:cs typeface="Arial" panose="020B0604020202020204" pitchFamily="34" charset="0"/>
              </a:rPr>
              <a:t>khởi</a:t>
            </a: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800" dirty="0" err="1">
                <a:latin typeface="Arial" panose="020B0604020202020204" pitchFamily="34" charset="0"/>
                <a:cs typeface="Arial" panose="020B0604020202020204" pitchFamily="34" charset="0"/>
              </a:rPr>
              <a:t>chạy</a:t>
            </a: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 class Main, </a:t>
            </a:r>
            <a:r>
              <a:rPr lang="en-US" sz="1800" dirty="0" err="1">
                <a:latin typeface="Arial" panose="020B0604020202020204" pitchFamily="34" charset="0"/>
                <a:cs typeface="Arial" panose="020B0604020202020204" pitchFamily="34" charset="0"/>
              </a:rPr>
              <a:t>chỉ</a:t>
            </a: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800" dirty="0" err="1">
                <a:latin typeface="Arial" panose="020B0604020202020204" pitchFamily="34" charset="0"/>
                <a:cs typeface="Arial" panose="020B0604020202020204" pitchFamily="34" charset="0"/>
              </a:rPr>
              <a:t>định</a:t>
            </a: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800" dirty="0" err="1">
                <a:latin typeface="Arial" panose="020B0604020202020204" pitchFamily="34" charset="0"/>
                <a:cs typeface="Arial" panose="020B0604020202020204" pitchFamily="34" charset="0"/>
              </a:rPr>
              <a:t>classpath</a:t>
            </a: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 (</a:t>
            </a:r>
            <a:r>
              <a:rPr lang="en-US" sz="1800" dirty="0">
                <a:solidFill>
                  <a:schemeClr val="accent4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out</a:t>
            </a: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) </a:t>
            </a:r>
            <a:r>
              <a:rPr lang="en-US" sz="1800" dirty="0" err="1">
                <a:latin typeface="Arial" panose="020B0604020202020204" pitchFamily="34" charset="0"/>
                <a:cs typeface="Arial" panose="020B0604020202020204" pitchFamily="34" charset="0"/>
              </a:rPr>
              <a:t>để</a:t>
            </a: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 JVM </a:t>
            </a:r>
            <a:r>
              <a:rPr lang="en-US" sz="1800" dirty="0" err="1">
                <a:latin typeface="Arial" panose="020B0604020202020204" pitchFamily="34" charset="0"/>
                <a:cs typeface="Arial" panose="020B0604020202020204" pitchFamily="34" charset="0"/>
              </a:rPr>
              <a:t>biết</a:t>
            </a: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800" dirty="0" err="1">
                <a:latin typeface="Arial" panose="020B0604020202020204" pitchFamily="34" charset="0"/>
                <a:cs typeface="Arial" panose="020B0604020202020204" pitchFamily="34" charset="0"/>
              </a:rPr>
              <a:t>nơi</a:t>
            </a: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800" dirty="0" err="1">
                <a:latin typeface="Arial" panose="020B0604020202020204" pitchFamily="34" charset="0"/>
                <a:cs typeface="Arial" panose="020B0604020202020204" pitchFamily="34" charset="0"/>
              </a:rPr>
              <a:t>cần</a:t>
            </a: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 load bytecode</a:t>
            </a:r>
            <a:br>
              <a:rPr lang="en-US" sz="19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1900" dirty="0">
                <a:solidFill>
                  <a:schemeClr val="accent5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java</a:t>
            </a:r>
            <a:r>
              <a:rPr lang="en-US" sz="1900" dirty="0">
                <a:latin typeface="Arial" panose="020B0604020202020204" pitchFamily="34" charset="0"/>
                <a:cs typeface="Arial" panose="020B0604020202020204" pitchFamily="34" charset="0"/>
              </a:rPr>
              <a:t> -cp </a:t>
            </a:r>
            <a:r>
              <a:rPr lang="en-US" sz="1900" dirty="0">
                <a:solidFill>
                  <a:schemeClr val="accent4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out</a:t>
            </a:r>
            <a:r>
              <a:rPr lang="en-US" sz="19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900" dirty="0" err="1">
                <a:latin typeface="Arial" panose="020B0604020202020204" pitchFamily="34" charset="0"/>
                <a:cs typeface="Arial" panose="020B0604020202020204" pitchFamily="34" charset="0"/>
              </a:rPr>
              <a:t>com.example.Main</a:t>
            </a:r>
            <a:endParaRPr lang="en-US" sz="19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buNone/>
            </a:pPr>
            <a:endParaRPr lang="vi-VN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1652467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B64EAD-3400-AC74-C0E7-E6F8A3456F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B31968-B3A7-8C70-F44F-9BC7DAE325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…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Cùng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với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thư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viện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bên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ngoài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584C22-B3BE-A267-5E3C-9B0B3EC0297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2015732"/>
            <a:ext cx="9603275" cy="4134056"/>
          </a:xfrm>
        </p:spPr>
        <p:txBody>
          <a:bodyPr>
            <a:normAutofit/>
          </a:bodyPr>
          <a:lstStyle/>
          <a:p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Thư </a:t>
            </a:r>
            <a:r>
              <a:rPr lang="en-US" sz="2200" dirty="0" err="1">
                <a:latin typeface="Arial" panose="020B0604020202020204" pitchFamily="34" charset="0"/>
                <a:cs typeface="Arial" panose="020B0604020202020204" pitchFamily="34" charset="0"/>
              </a:rPr>
              <a:t>viện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200" dirty="0" err="1">
                <a:latin typeface="Arial" panose="020B0604020202020204" pitchFamily="34" charset="0"/>
                <a:cs typeface="Arial" panose="020B0604020202020204" pitchFamily="34" charset="0"/>
              </a:rPr>
              <a:t>ngoài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: Các </a:t>
            </a:r>
            <a:r>
              <a:rPr lang="en-US" sz="2200" dirty="0" err="1">
                <a:latin typeface="Arial" panose="020B0604020202020204" pitchFamily="34" charset="0"/>
                <a:cs typeface="Arial" panose="020B0604020202020204" pitchFamily="34" charset="0"/>
              </a:rPr>
              <a:t>gói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 jar </a:t>
            </a:r>
            <a:r>
              <a:rPr lang="en-US" sz="2200" dirty="0" err="1">
                <a:latin typeface="Arial" panose="020B0604020202020204" pitchFamily="34" charset="0"/>
                <a:cs typeface="Arial" panose="020B0604020202020204" pitchFamily="34" charset="0"/>
              </a:rPr>
              <a:t>chứa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200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bytecode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200" dirty="0" err="1">
                <a:latin typeface="Arial" panose="020B0604020202020204" pitchFamily="34" charset="0"/>
                <a:cs typeface="Arial" panose="020B0604020202020204" pitchFamily="34" charset="0"/>
              </a:rPr>
              <a:t>đã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200" dirty="0" err="1">
                <a:latin typeface="Arial" panose="020B0604020202020204" pitchFamily="34" charset="0"/>
                <a:cs typeface="Arial" panose="020B0604020202020204" pitchFamily="34" charset="0"/>
              </a:rPr>
              <a:t>được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200" dirty="0" err="1">
                <a:latin typeface="Arial" panose="020B0604020202020204" pitchFamily="34" charset="0"/>
                <a:cs typeface="Arial" panose="020B0604020202020204" pitchFamily="34" charset="0"/>
              </a:rPr>
              <a:t>biên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200" dirty="0" err="1">
                <a:latin typeface="Arial" panose="020B0604020202020204" pitchFamily="34" charset="0"/>
                <a:cs typeface="Arial" panose="020B0604020202020204" pitchFamily="34" charset="0"/>
              </a:rPr>
              <a:t>dịch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pPr lvl="1"/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Cung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cấp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các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Utility, API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để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các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developer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sử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dụng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trực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tiếp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không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cần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tự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viết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lại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pPr lvl="1"/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Ví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dụ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: </a:t>
            </a:r>
            <a:r>
              <a:rPr lang="en-US" sz="2000" dirty="0" err="1">
                <a:solidFill>
                  <a:schemeClr val="accent5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StringUtils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của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common-lang3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cung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cấp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các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method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để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kiểm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tra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và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thao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tác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với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String (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isEmpty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, join,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removeAll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, …).</a:t>
            </a:r>
          </a:p>
          <a:p>
            <a:pPr lvl="1"/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Thường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được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chia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sẻ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công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khai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trên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các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internet (Maven,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Github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, …).</a:t>
            </a:r>
          </a:p>
          <a:p>
            <a:pPr marL="0" indent="0">
              <a:buNone/>
            </a:pP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# </a:t>
            </a:r>
            <a:r>
              <a:rPr lang="en-US" sz="1800" dirty="0" err="1">
                <a:latin typeface="Arial" panose="020B0604020202020204" pitchFamily="34" charset="0"/>
                <a:cs typeface="Arial" panose="020B0604020202020204" pitchFamily="34" charset="0"/>
              </a:rPr>
              <a:t>phải</a:t>
            </a: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800" dirty="0" err="1">
                <a:latin typeface="Arial" panose="020B0604020202020204" pitchFamily="34" charset="0"/>
                <a:cs typeface="Arial" panose="020B0604020202020204" pitchFamily="34" charset="0"/>
              </a:rPr>
              <a:t>chỉ</a:t>
            </a: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800" dirty="0" err="1">
                <a:latin typeface="Arial" panose="020B0604020202020204" pitchFamily="34" charset="0"/>
                <a:cs typeface="Arial" panose="020B0604020202020204" pitchFamily="34" charset="0"/>
              </a:rPr>
              <a:t>định</a:t>
            </a: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800" dirty="0" err="1">
                <a:latin typeface="Arial" panose="020B0604020202020204" pitchFamily="34" charset="0"/>
                <a:cs typeface="Arial" panose="020B0604020202020204" pitchFamily="34" charset="0"/>
              </a:rPr>
              <a:t>classpath</a:t>
            </a: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 (</a:t>
            </a:r>
            <a:r>
              <a:rPr lang="en-US" sz="1800" dirty="0" err="1">
                <a:latin typeface="Arial" panose="020B0604020202020204" pitchFamily="34" charset="0"/>
                <a:cs typeface="Arial" panose="020B0604020202020204" pitchFamily="34" charset="0"/>
              </a:rPr>
              <a:t>thư</a:t>
            </a: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800" dirty="0" err="1">
                <a:latin typeface="Arial" panose="020B0604020202020204" pitchFamily="34" charset="0"/>
                <a:cs typeface="Arial" panose="020B0604020202020204" pitchFamily="34" charset="0"/>
              </a:rPr>
              <a:t>mục</a:t>
            </a: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800" dirty="0">
                <a:solidFill>
                  <a:schemeClr val="accent4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out </a:t>
            </a:r>
            <a:r>
              <a:rPr lang="en-US" sz="1800" dirty="0" err="1">
                <a:latin typeface="Arial" panose="020B0604020202020204" pitchFamily="34" charset="0"/>
                <a:cs typeface="Arial" panose="020B0604020202020204" pitchFamily="34" charset="0"/>
              </a:rPr>
              <a:t>và</a:t>
            </a: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 file </a:t>
            </a:r>
            <a:r>
              <a:rPr lang="en-US" sz="1800" dirty="0" err="1">
                <a:latin typeface="Arial" panose="020B0604020202020204" pitchFamily="34" charset="0"/>
                <a:cs typeface="Arial" panose="020B0604020202020204" pitchFamily="34" charset="0"/>
              </a:rPr>
              <a:t>thư</a:t>
            </a: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800" dirty="0" err="1">
                <a:latin typeface="Arial" panose="020B0604020202020204" pitchFamily="34" charset="0"/>
                <a:cs typeface="Arial" panose="020B0604020202020204" pitchFamily="34" charset="0"/>
              </a:rPr>
              <a:t>viện</a:t>
            </a: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 jar </a:t>
            </a:r>
            <a:r>
              <a:rPr lang="en-US" sz="1800" dirty="0" err="1">
                <a:latin typeface="Arial" panose="020B0604020202020204" pitchFamily="34" charset="0"/>
                <a:cs typeface="Arial" panose="020B0604020202020204" pitchFamily="34" charset="0"/>
              </a:rPr>
              <a:t>đang</a:t>
            </a: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800" dirty="0" err="1">
                <a:latin typeface="Arial" panose="020B0604020202020204" pitchFamily="34" charset="0"/>
                <a:cs typeface="Arial" panose="020B0604020202020204" pitchFamily="34" charset="0"/>
              </a:rPr>
              <a:t>nằm</a:t>
            </a: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 ở ổ </a:t>
            </a:r>
            <a:r>
              <a:rPr lang="en-US" sz="1800" dirty="0" err="1">
                <a:latin typeface="Arial" panose="020B0604020202020204" pitchFamily="34" charset="0"/>
                <a:cs typeface="Arial" panose="020B0604020202020204" pitchFamily="34" charset="0"/>
              </a:rPr>
              <a:t>đĩa</a:t>
            </a: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 D)</a:t>
            </a:r>
            <a:b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1900" i="1" dirty="0">
                <a:solidFill>
                  <a:schemeClr val="accent5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java</a:t>
            </a:r>
            <a:r>
              <a:rPr lang="en-US" sz="1900" dirty="0">
                <a:latin typeface="Arial" panose="020B0604020202020204" pitchFamily="34" charset="0"/>
                <a:cs typeface="Arial" panose="020B0604020202020204" pitchFamily="34" charset="0"/>
              </a:rPr>
              <a:t> -cp "</a:t>
            </a:r>
            <a:r>
              <a:rPr lang="en-US" sz="1900" dirty="0" err="1">
                <a:latin typeface="Arial" panose="020B0604020202020204" pitchFamily="34" charset="0"/>
                <a:cs typeface="Arial" panose="020B0604020202020204" pitchFamily="34" charset="0"/>
              </a:rPr>
              <a:t>out;D</a:t>
            </a:r>
            <a:r>
              <a:rPr lang="en-US" sz="1900" dirty="0">
                <a:latin typeface="Arial" panose="020B0604020202020204" pitchFamily="34" charset="0"/>
                <a:cs typeface="Arial" panose="020B0604020202020204" pitchFamily="34" charset="0"/>
              </a:rPr>
              <a:t>:\repository\org\</a:t>
            </a:r>
            <a:r>
              <a:rPr lang="en-US" sz="1900" dirty="0" err="1">
                <a:latin typeface="Arial" panose="020B0604020202020204" pitchFamily="34" charset="0"/>
                <a:cs typeface="Arial" panose="020B0604020202020204" pitchFamily="34" charset="0"/>
              </a:rPr>
              <a:t>apache</a:t>
            </a:r>
            <a:r>
              <a:rPr lang="en-US" sz="1900" dirty="0">
                <a:latin typeface="Arial" panose="020B0604020202020204" pitchFamily="34" charset="0"/>
                <a:cs typeface="Arial" panose="020B0604020202020204" pitchFamily="34" charset="0"/>
              </a:rPr>
              <a:t>\commons\commons-lang3\3.18.0\commons-lang3-3.18.0.jar" </a:t>
            </a:r>
            <a:r>
              <a:rPr lang="en-US" sz="1900" dirty="0" err="1">
                <a:latin typeface="Arial" panose="020B0604020202020204" pitchFamily="34" charset="0"/>
                <a:cs typeface="Arial" panose="020B0604020202020204" pitchFamily="34" charset="0"/>
              </a:rPr>
              <a:t>com.example.Main</a:t>
            </a:r>
            <a:endParaRPr lang="en-US" sz="19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buNone/>
            </a:pPr>
            <a:endParaRPr lang="vi-VN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0624210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BF79DB-42F9-A37D-6EEB-9B529C27A8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FCF17E-CDD4-783B-8E80-795FB6E60E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latin typeface="Arial" panose="020B0604020202020204" pitchFamily="34" charset="0"/>
                <a:cs typeface="Arial" panose="020B0604020202020204" pitchFamily="34" charset="0"/>
              </a:rPr>
              <a:t>Một số vấn đề khi sử dụng thư viện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1464AE-1246-3526-502A-D6BE047427F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2015732"/>
            <a:ext cx="9603275" cy="4134056"/>
          </a:xfrm>
        </p:spPr>
        <p:txBody>
          <a:bodyPr>
            <a:normAutofit/>
          </a:bodyPr>
          <a:lstStyle/>
          <a:p>
            <a:r>
              <a:rPr lang="en-US" sz="2200">
                <a:latin typeface="Arial" panose="020B0604020202020204" pitchFamily="34" charset="0"/>
                <a:cs typeface="Arial" panose="020B0604020202020204" pitchFamily="34" charset="0"/>
              </a:rPr>
              <a:t>Không cung cấp đủ (hoặc cung cấp sai) thư viện khi biên dịch</a:t>
            </a:r>
            <a:endParaRPr lang="en-US" sz="2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2200">
                <a:latin typeface="Arial" panose="020B0604020202020204" pitchFamily="34" charset="0"/>
                <a:cs typeface="Arial" panose="020B0604020202020204" pitchFamily="34" charset="0"/>
              </a:rPr>
              <a:t>Vấn đề tương tự khi chạy ứng dụng</a:t>
            </a:r>
          </a:p>
          <a:p>
            <a:pPr lvl="1"/>
            <a:r>
              <a:rPr lang="en-US" sz="2000">
                <a:latin typeface="Arial" panose="020B0604020202020204" pitchFamily="34" charset="0"/>
                <a:cs typeface="Arial" panose="020B0604020202020204" pitchFamily="34" charset="0"/>
              </a:rPr>
              <a:t>Fix: Thêm </a:t>
            </a:r>
            <a:r>
              <a:rPr lang="en-US" sz="2000">
                <a:solidFill>
                  <a:schemeClr val="accent5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classpath</a:t>
            </a:r>
            <a:r>
              <a:rPr lang="en-US" sz="2000">
                <a:latin typeface="Arial" panose="020B0604020202020204" pitchFamily="34" charset="0"/>
                <a:cs typeface="Arial" panose="020B0604020202020204" pitchFamily="34" charset="0"/>
              </a:rPr>
              <a:t> chứa đầy đủ thư viện khi biên dịch/chạy</a:t>
            </a:r>
            <a:br>
              <a:rPr lang="en-US" sz="2000"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en-US" sz="200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2200">
                <a:latin typeface="Arial" panose="020B0604020202020204" pitchFamily="34" charset="0"/>
                <a:cs typeface="Arial" panose="020B0604020202020204" pitchFamily="34" charset="0"/>
              </a:rPr>
              <a:t>Cung cấp sai version của thư viện khi chạy ứng dụng</a:t>
            </a:r>
          </a:p>
          <a:p>
            <a:r>
              <a:rPr lang="en-US" sz="2200">
                <a:latin typeface="Arial" panose="020B0604020202020204" pitchFamily="34" charset="0"/>
                <a:cs typeface="Arial" panose="020B0604020202020204" pitchFamily="34" charset="0"/>
              </a:rPr>
              <a:t>Cung cấp nhiều phiên bản của cùng một thư viện</a:t>
            </a:r>
          </a:p>
          <a:p>
            <a:pPr lvl="1"/>
            <a:r>
              <a:rPr lang="en-US" sz="2000">
                <a:latin typeface="Arial" panose="020B0604020202020204" pitchFamily="34" charset="0"/>
                <a:cs typeface="Arial" panose="020B0604020202020204" pitchFamily="34" charset="0"/>
              </a:rPr>
              <a:t>Các lỗi </a:t>
            </a:r>
            <a:r>
              <a:rPr lang="en-US" sz="2000">
                <a:solidFill>
                  <a:schemeClr val="accent4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có thể </a:t>
            </a:r>
            <a:r>
              <a:rPr lang="en-US" sz="2000">
                <a:latin typeface="Arial" panose="020B0604020202020204" pitchFamily="34" charset="0"/>
                <a:cs typeface="Arial" panose="020B0604020202020204" pitchFamily="34" charset="0"/>
              </a:rPr>
              <a:t>xảy ra: NoClassDefFoundError/ClassNotFoundException, NoSuchMethodError, NoSuchFieldError</a:t>
            </a:r>
          </a:p>
        </p:txBody>
      </p:sp>
    </p:spTree>
    <p:extLst>
      <p:ext uri="{BB962C8B-B14F-4D97-AF65-F5344CB8AC3E}">
        <p14:creationId xmlns:p14="http://schemas.microsoft.com/office/powerpoint/2010/main" val="167633137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3423C8-66C9-4E0F-34CB-1966A78E44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B266C2-84F7-62ED-0F91-E1ADBA4524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latin typeface="Arial" panose="020B0604020202020204" pitchFamily="34" charset="0"/>
                <a:cs typeface="Arial" panose="020B0604020202020204" pitchFamily="34" charset="0"/>
              </a:rPr>
              <a:t>Ví dụ với Spring app đơn giản (cmd)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39C501-7D1B-178F-EB61-2D2612C2C3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2015732"/>
            <a:ext cx="9603275" cy="4134056"/>
          </a:xfrm>
        </p:spPr>
        <p:txBody>
          <a:bodyPr>
            <a:normAutofit lnSpcReduction="10000"/>
          </a:bodyPr>
          <a:lstStyle/>
          <a:p>
            <a:r>
              <a:rPr lang="en-US">
                <a:latin typeface="Arial" panose="020B0604020202020204" pitchFamily="34" charset="0"/>
                <a:cs typeface="Arial" panose="020B0604020202020204" pitchFamily="34" charset="0"/>
              </a:rPr>
              <a:t>jar</a:t>
            </a:r>
            <a:r>
              <a:rPr lang="en-US" i="1">
                <a:solidFill>
                  <a:schemeClr val="accent5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</a:t>
            </a:r>
            <a:r>
              <a:rPr lang="en-US" b="1">
                <a:latin typeface="Arial" panose="020B0604020202020204" pitchFamily="34" charset="0"/>
                <a:cs typeface="Arial" panose="020B0604020202020204" pitchFamily="34" charset="0"/>
              </a:rPr>
              <a:t>J</a:t>
            </a:r>
            <a:r>
              <a:rPr lang="en-US">
                <a:latin typeface="Arial" panose="020B0604020202020204" pitchFamily="34" charset="0"/>
                <a:cs typeface="Arial" panose="020B0604020202020204" pitchFamily="34" charset="0"/>
              </a:rPr>
              <a:t>ava</a:t>
            </a:r>
            <a:r>
              <a:rPr lang="en-US">
                <a:solidFill>
                  <a:schemeClr val="accent5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b="1">
                <a:latin typeface="Arial" panose="020B0604020202020204" pitchFamily="34" charset="0"/>
                <a:cs typeface="Arial" panose="020B0604020202020204" pitchFamily="34" charset="0"/>
              </a:rPr>
              <a:t>Ar</a:t>
            </a:r>
            <a:r>
              <a:rPr lang="en-US">
                <a:latin typeface="Arial" panose="020B0604020202020204" pitchFamily="34" charset="0"/>
                <a:cs typeface="Arial" panose="020B0604020202020204" pitchFamily="34" charset="0"/>
              </a:rPr>
              <a:t>chive</a:t>
            </a:r>
          </a:p>
          <a:p>
            <a:pPr lvl="1"/>
            <a:r>
              <a:rPr lang="en-US">
                <a:latin typeface="Arial" panose="020B0604020202020204" pitchFamily="34" charset="0"/>
                <a:cs typeface="Arial" panose="020B0604020202020204" pitchFamily="34" charset="0"/>
              </a:rPr>
              <a:t>Định dạng</a:t>
            </a:r>
            <a:r>
              <a:rPr lang="en-US"/>
              <a:t> </a:t>
            </a:r>
            <a:r>
              <a:rPr lang="en-US">
                <a:latin typeface="Arial" panose="020B0604020202020204" pitchFamily="34" charset="0"/>
                <a:cs typeface="Arial" panose="020B0604020202020204" pitchFamily="34" charset="0"/>
              </a:rPr>
              <a:t>đóng gói các file class, resource và metadata của ứng dụng Java</a:t>
            </a:r>
          </a:p>
          <a:p>
            <a:pPr lvl="1"/>
            <a:r>
              <a:rPr lang="en-US">
                <a:latin typeface="Arial" panose="020B0604020202020204" pitchFamily="34" charset="0"/>
                <a:cs typeface="Arial" panose="020B0604020202020204" pitchFamily="34" charset="0"/>
              </a:rPr>
              <a:t>JDK cung cấp tiện ích đi kèm là </a:t>
            </a:r>
            <a:r>
              <a:rPr lang="en-US" i="1">
                <a:solidFill>
                  <a:schemeClr val="accent5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jar</a:t>
            </a:r>
            <a:r>
              <a:rPr lang="en-US">
                <a:latin typeface="Arial" panose="020B0604020202020204" pitchFamily="34" charset="0"/>
                <a:cs typeface="Arial" panose="020B0604020202020204" pitchFamily="34" charset="0"/>
              </a:rPr>
              <a:t>, dùng để tạo/manage jar file</a:t>
            </a:r>
          </a:p>
          <a:p>
            <a:r>
              <a:rPr lang="en-US">
                <a:latin typeface="Arial" panose="020B0604020202020204" pitchFamily="34" charset="0"/>
                <a:cs typeface="Arial" panose="020B0604020202020204" pitchFamily="34" charset="0"/>
              </a:rPr>
              <a:t>Non-executable jar: Không chứa method main</a:t>
            </a:r>
          </a:p>
          <a:p>
            <a:r>
              <a:rPr lang="en-US">
                <a:latin typeface="Arial" panose="020B0604020202020204" pitchFamily="34" charset="0"/>
                <a:cs typeface="Arial" panose="020B0604020202020204" pitchFamily="34" charset="0"/>
              </a:rPr>
              <a:t>Executable jar: Chứa method main, chạy được</a:t>
            </a:r>
          </a:p>
          <a:p>
            <a:endParaRPr lang="en-US" sz="200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buNone/>
            </a:pPr>
            <a:r>
              <a:rPr lang="en-US" sz="1900" i="1">
                <a:solidFill>
                  <a:schemeClr val="accent5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javac</a:t>
            </a:r>
            <a:r>
              <a:rPr lang="en-US" sz="1900">
                <a:latin typeface="Arial" panose="020B0604020202020204" pitchFamily="34" charset="0"/>
                <a:cs typeface="Arial" panose="020B0604020202020204" pitchFamily="34" charset="0"/>
              </a:rPr>
              <a:t> -cp "lib\*" -d out (Get-ChildItem -Recurse -Filter *.java).FullName</a:t>
            </a:r>
            <a:br>
              <a:rPr lang="en-US" sz="190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1900" i="1">
                <a:solidFill>
                  <a:schemeClr val="accent5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jar</a:t>
            </a:r>
            <a:r>
              <a:rPr lang="en-US" sz="1900">
                <a:latin typeface="Arial" panose="020B0604020202020204" pitchFamily="34" charset="0"/>
                <a:cs typeface="Arial" panose="020B0604020202020204" pitchFamily="34" charset="0"/>
              </a:rPr>
              <a:t> cvfm </a:t>
            </a:r>
            <a:r>
              <a:rPr lang="en-US" sz="190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commandline.jar</a:t>
            </a:r>
            <a:r>
              <a:rPr lang="en-US" sz="1900">
                <a:latin typeface="Arial" panose="020B0604020202020204" pitchFamily="34" charset="0"/>
                <a:cs typeface="Arial" panose="020B0604020202020204" pitchFamily="34" charset="0"/>
              </a:rPr>
              <a:t> META-INF\MANIFEST.MF -C out .</a:t>
            </a:r>
            <a:br>
              <a:rPr lang="en-US" sz="190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1900" i="1">
                <a:solidFill>
                  <a:schemeClr val="accent5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java</a:t>
            </a:r>
            <a:r>
              <a:rPr lang="en-US" sz="1900">
                <a:latin typeface="Arial" panose="020B0604020202020204" pitchFamily="34" charset="0"/>
                <a:cs typeface="Arial" panose="020B0604020202020204" pitchFamily="34" charset="0"/>
              </a:rPr>
              <a:t> -cp "commandline.jar;lib\*" com.example.Main</a:t>
            </a:r>
            <a:br>
              <a:rPr lang="en-US"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en-US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99083835"/>
      </p:ext>
    </p:extLst>
  </p:cSld>
  <p:clrMapOvr>
    <a:masterClrMapping/>
  </p:clrMapOvr>
</p:sld>
</file>

<file path=ppt/theme/theme1.xml><?xml version="1.0" encoding="utf-8"?>
<a:theme xmlns:a="http://schemas.openxmlformats.org/drawingml/2006/main" name="Gallery">
  <a:themeElements>
    <a:clrScheme name="Gallery">
      <a:dk1>
        <a:sysClr val="windowText" lastClr="000000"/>
      </a:dk1>
      <a:lt1>
        <a:sysClr val="window" lastClr="FFFFFF"/>
      </a:lt1>
      <a:dk2>
        <a:srgbClr val="454545"/>
      </a:dk2>
      <a:lt2>
        <a:srgbClr val="DFDBD5"/>
      </a:lt2>
      <a:accent1>
        <a:srgbClr val="B71E42"/>
      </a:accent1>
      <a:accent2>
        <a:srgbClr val="DE478E"/>
      </a:accent2>
      <a:accent3>
        <a:srgbClr val="BC72F0"/>
      </a:accent3>
      <a:accent4>
        <a:srgbClr val="795FAF"/>
      </a:accent4>
      <a:accent5>
        <a:srgbClr val="586EA6"/>
      </a:accent5>
      <a:accent6>
        <a:srgbClr val="6892A0"/>
      </a:accent6>
      <a:hlink>
        <a:srgbClr val="FA2B5C"/>
      </a:hlink>
      <a:folHlink>
        <a:srgbClr val="BC658E"/>
      </a:folHlink>
    </a:clrScheme>
    <a:fontScheme name="Gallery">
      <a:majorFont>
        <a:latin typeface="Gill Sans MT" panose="020B0502020104020203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Gallery">
      <a:fillStyleLst>
        <a:solidFill>
          <a:schemeClr val="phClr"/>
        </a:solidFill>
        <a:gradFill rotWithShape="1">
          <a:gsLst>
            <a:gs pos="0">
              <a:schemeClr val="phClr">
                <a:tint val="54000"/>
                <a:alpha val="100000"/>
                <a:satMod val="105000"/>
                <a:lumMod val="110000"/>
              </a:schemeClr>
            </a:gs>
            <a:gs pos="100000">
              <a:schemeClr val="phClr">
                <a:tint val="78000"/>
                <a:alpha val="92000"/>
                <a:satMod val="109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satMod val="110000"/>
                <a:lumMod val="104000"/>
              </a:schemeClr>
            </a:gs>
            <a:gs pos="69000">
              <a:schemeClr val="phClr">
                <a:shade val="88000"/>
                <a:satMod val="130000"/>
                <a:lumMod val="92000"/>
              </a:schemeClr>
            </a:gs>
            <a:gs pos="100000">
              <a:schemeClr val="phClr">
                <a:shade val="78000"/>
                <a:satMod val="130000"/>
                <a:lumMod val="92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0800" dist="50800" dir="5400000" sx="96000" sy="96000" rotWithShape="0">
              <a:srgbClr val="000000">
                <a:alpha val="48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1080000"/>
            </a:lightRig>
          </a:scene3d>
          <a:sp3d>
            <a:bevelT w="38100" h="12700" prst="softRound"/>
          </a:sp3d>
        </a:effectStyle>
      </a:effectStyleLst>
      <a:bgFillStyleLst>
        <a:solidFill>
          <a:schemeClr val="phClr"/>
        </a:solidFill>
        <a:solidFill>
          <a:schemeClr val="phClr"/>
        </a:solidFill>
        <a:gradFill rotWithShape="1">
          <a:gsLst>
            <a:gs pos="0">
              <a:schemeClr val="phClr">
                <a:tint val="94000"/>
                <a:satMod val="80000"/>
                <a:lumMod val="106000"/>
              </a:schemeClr>
            </a:gs>
            <a:gs pos="100000">
              <a:schemeClr val="phClr">
                <a:shade val="80000"/>
              </a:schemeClr>
            </a:gs>
          </a:gsLst>
          <a:path path="circle">
            <a:fillToRect l="43000" r="43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Gallery" id="{BBFCD31E-59A1-489D-B089-A3EAD7CAE12E}" vid="{F5E91637-A7B6-4E27-B710-77DA7014EE1E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Gallery</Template>
  <TotalTime>293</TotalTime>
  <Words>447</Words>
  <Application>Microsoft Office PowerPoint</Application>
  <PresentationFormat>Widescreen</PresentationFormat>
  <Paragraphs>28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Gill Sans MT</vt:lpstr>
      <vt:lpstr>Gallery</vt:lpstr>
      <vt:lpstr>Basic Java</vt:lpstr>
      <vt:lpstr>Biên dịch và khởi chạy</vt:lpstr>
      <vt:lpstr>… Cùng với thư viện bên ngoài</vt:lpstr>
      <vt:lpstr>Một số vấn đề khi sử dụng thư viện</vt:lpstr>
      <vt:lpstr>Ví dụ với Spring app đơn giản (cmd)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Tử Song</dc:creator>
  <cp:lastModifiedBy>Tử Song</cp:lastModifiedBy>
  <cp:revision>22</cp:revision>
  <dcterms:created xsi:type="dcterms:W3CDTF">2025-11-20T10:24:40Z</dcterms:created>
  <dcterms:modified xsi:type="dcterms:W3CDTF">2025-12-18T13:24:35Z</dcterms:modified>
</cp:coreProperties>
</file>